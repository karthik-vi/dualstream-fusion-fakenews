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84" r:id="rId4"/>
    <p:sldId id="267" r:id="rId5"/>
    <p:sldId id="270" r:id="rId6"/>
    <p:sldId id="280" r:id="rId7"/>
    <p:sldId id="281" r:id="rId8"/>
    <p:sldId id="282" r:id="rId9"/>
    <p:sldId id="285" r:id="rId10"/>
    <p:sldId id="261" r:id="rId11"/>
    <p:sldId id="283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9"/>
    <p:restoredTop sz="94694"/>
  </p:normalViewPr>
  <p:slideViewPr>
    <p:cSldViewPr snapToGrid="0">
      <p:cViewPr varScale="1">
        <p:scale>
          <a:sx n="63" d="100"/>
          <a:sy n="63" d="100"/>
        </p:scale>
        <p:origin x="1056" y="52"/>
      </p:cViewPr>
      <p:guideLst/>
    </p:cSldViewPr>
  </p:slideViewPr>
  <p:outlineViewPr>
    <p:cViewPr>
      <p:scale>
        <a:sx n="33" d="100"/>
        <a:sy n="33" d="100"/>
      </p:scale>
      <p:origin x="0" y="-8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Data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18-5949-8349-B216271134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pattFill prst="dkDnDiag">
              <a:fgClr>
                <a:schemeClr val="accent2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18-5949-8349-B216271134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pattFill prst="pct50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18-5949-8349-B216271134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8223488"/>
        <c:axId val="48231552"/>
      </c:barChart>
      <c:catAx>
        <c:axId val="48223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231552"/>
        <c:crosses val="autoZero"/>
        <c:auto val="1"/>
        <c:lblAlgn val="ctr"/>
        <c:lblOffset val="100"/>
        <c:noMultiLvlLbl val="0"/>
      </c:catAx>
      <c:valAx>
        <c:axId val="48231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22348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5BA36-2DBA-8E4B-A80F-E09890FEEA5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5E1F8-3717-4041-B345-9C118A1FFF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23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5E1F8-3717-4041-B345-9C118A1FFFB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138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At Buffalo">
            <a:extLst>
              <a:ext uri="{FF2B5EF4-FFF2-40B4-BE49-F238E27FC236}">
                <a16:creationId xmlns:a16="http://schemas.microsoft.com/office/drawing/2014/main" id="{1A1BE23F-EB8C-C334-0952-039ECD65601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83425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13081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852BBF0-D4AB-C711-BF50-E70E9D90B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6B90690-1726-8CA4-435D-AA568BD5DA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70699" y="450304"/>
            <a:ext cx="11390931" cy="8107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6000" b="1" i="0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endParaRPr lang="en-US" sz="1800" cap="all" baseline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0535" y="2710543"/>
            <a:ext cx="11390930" cy="1382486"/>
          </a:xfrm>
        </p:spPr>
        <p:txBody>
          <a:bodyPr anchor="t" anchorCtr="0"/>
          <a:lstStyle>
            <a:lvl1pPr algn="ctr">
              <a:lnSpc>
                <a:spcPts val="6000"/>
              </a:lnSpc>
              <a:defRPr sz="6600" b="0" i="0" cap="none" spc="-1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04357" y="4288966"/>
            <a:ext cx="7783286" cy="1948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888EB26-97B7-36F7-0E08-44CE3F2ACA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050" y="1611313"/>
            <a:ext cx="11391900" cy="827087"/>
          </a:xfrm>
        </p:spPr>
        <p:txBody>
          <a:bodyPr anchor="b" anchorCtr="0"/>
          <a:lstStyle>
            <a:lvl1pPr marL="0" algn="ctr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cap="all" baseline="0">
                <a:solidFill>
                  <a:schemeClr val="bg1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z="1600" b="1" i="0" cap="all" baseline="0" dirty="0">
                <a:solidFill>
                  <a:schemeClr val="bg1"/>
                </a:solidFill>
              </a:rPr>
              <a:t>Pre-title text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10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522992"/>
            <a:ext cx="10515600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EEF76-ED4D-182E-F4F6-FE4A47EA0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4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Bulleted List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72581D-FDC6-57FF-9223-40E3BBD0D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07200" y="1371600"/>
            <a:ext cx="53848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0E64E3-43AA-E108-65B7-E60FA7F2EC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522992"/>
            <a:ext cx="10515600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9D3417-A8CB-BA8D-6590-5F7131730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2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81943"/>
            <a:ext cx="6270493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 vitae dapibus elit ligula vel urna. Integer mollis elit vel justo bibendum vitae et efficitur arcu bibendum. consectetur adipiscing elit. Vivamus euismod, leo a condimentum pretium.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70064F-FCBA-0CCF-672A-1C99478AD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7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5" y="248194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909137" y="248194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0D3C84-8722-3F78-DB42-E8B8EA1F2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03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3FBDA0-6DAD-2BD7-8995-0DD004DCD4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D848CF-329C-12E6-A53F-3C3893FC54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522992"/>
            <a:ext cx="5029200" cy="405079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746082-11FB-1BAB-9564-CFA32F2BC5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878286" y="2522992"/>
            <a:ext cx="5031522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6837F-65A2-482E-691B-FA0A12696B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ACB4B-F29B-2D8D-6D73-4E11A085A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043714-87BE-4DA3-B2F6-CE19C94EF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E57A07-9930-44A5-B8A4-E2B0497B97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527153"/>
            <a:ext cx="10515600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FF8DBE-F14C-4661-C6FB-66F0BEF559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166495"/>
            <a:ext cx="10515600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831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FEDF63-8496-15A2-A2BD-F4F077280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52715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16649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977588" y="252715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77590" y="316649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39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8194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34743" y="1504626"/>
            <a:ext cx="5963049" cy="432044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131C35-7703-D99E-E6EA-6F099E9D2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60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70064F-FCBA-0CCF-672A-1C99478AD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5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39D3417-A8CB-BA8D-6590-5F7131730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860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8194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8212" y="1175657"/>
            <a:ext cx="6172200" cy="5682343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A842D6-D190-F142-6FC2-BACAE250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2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8194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3295" y="1175657"/>
            <a:ext cx="6175025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013295" y="4016828"/>
            <a:ext cx="3090672" cy="284378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097648" y="4016829"/>
            <a:ext cx="3090672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721556-F472-9CB8-AB89-2778C0932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570699" y="308027"/>
            <a:ext cx="901250" cy="75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4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1199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10515600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208" y="2522992"/>
            <a:ext cx="10515600" cy="40481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7580" y="6206038"/>
            <a:ext cx="6928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670C77-F8D5-0D45-BCC6-7287AA83D132}" type="slidenum">
              <a:rPr lang="en-US" smtClean="0"/>
              <a:pPr/>
              <a:t>‹#›</a:t>
            </a:fld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F7DA4-3663-FABA-10FE-899A3B0BA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65962" y="0"/>
            <a:ext cx="9998214" cy="608304"/>
          </a:xfrm>
          <a:prstGeom prst="rect">
            <a:avLst/>
          </a:prstGeom>
          <a:noFill/>
        </p:spPr>
        <p:txBody>
          <a:bodyPr wrap="square" lIns="365760" tIns="320040" bIns="0" rtlCol="0" anchor="t" anchorCtr="0">
            <a:noAutofit/>
          </a:bodyPr>
          <a:lstStyle/>
          <a:p>
            <a:r>
              <a:rPr 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</a:p>
          <a:p>
            <a:endParaRPr lang="en-US" sz="20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2D9F8-2F74-9BD6-F625-BC93BF316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68342" y="630606"/>
            <a:ext cx="9995834" cy="365125"/>
          </a:xfrm>
          <a:prstGeom prst="rect">
            <a:avLst/>
          </a:prstGeom>
          <a:noFill/>
        </p:spPr>
        <p:txBody>
          <a:bodyPr wrap="square" lIns="365760" tIns="45720" bIns="0" rtlCol="0" anchor="t" anchorCtr="0">
            <a:noAutofit/>
          </a:bodyPr>
          <a:lstStyle/>
          <a:p>
            <a:r>
              <a:rPr lang="en-US" sz="1300" b="0" baseline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CSE 676: DEEP LEARNING – Dr. </a:t>
            </a:r>
            <a:r>
              <a:rPr lang="en-US" sz="1300" b="0" baseline="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Mingchen</a:t>
            </a:r>
            <a:r>
              <a:rPr lang="en-US" sz="1300" b="0" baseline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Gao</a:t>
            </a:r>
          </a:p>
        </p:txBody>
      </p:sp>
    </p:spTree>
    <p:extLst>
      <p:ext uri="{BB962C8B-B14F-4D97-AF65-F5344CB8AC3E}">
        <p14:creationId xmlns:p14="http://schemas.microsoft.com/office/powerpoint/2010/main" val="3964681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49" r:id="rId2"/>
    <p:sldLayoutId id="2147483660" r:id="rId3"/>
    <p:sldLayoutId id="2147483658" r:id="rId4"/>
    <p:sldLayoutId id="2147483656" r:id="rId5"/>
    <p:sldLayoutId id="2147483665" r:id="rId6"/>
    <p:sldLayoutId id="2147483652" r:id="rId7"/>
    <p:sldLayoutId id="2147483666" r:id="rId8"/>
    <p:sldLayoutId id="2147483667" r:id="rId9"/>
    <p:sldLayoutId id="2147483664" r:id="rId10"/>
    <p:sldLayoutId id="2147483669" r:id="rId11"/>
    <p:sldLayoutId id="2147483668" r:id="rId12"/>
    <p:sldLayoutId id="2147483657" r:id="rId13"/>
    <p:sldLayoutId id="2147483663" r:id="rId14"/>
    <p:sldLayoutId id="214748366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System Font Regular"/>
        <a:buChar char="−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6EF79A5-BF07-5E2D-7DAF-AFA75AE92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Dual-Stream Feature </a:t>
            </a:r>
            <a:br>
              <a:rPr lang="en-US" sz="4000" dirty="0"/>
            </a:br>
            <a:r>
              <a:rPr lang="en-US" sz="4000" dirty="0"/>
              <a:t>Fusion for Fake News Detection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AD74763-8089-3291-9102-890EA53E7B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Addressing Domain Shift</a:t>
            </a:r>
            <a:br>
              <a:rPr lang="en-US" dirty="0"/>
            </a:br>
            <a:r>
              <a:rPr lang="en-US" dirty="0"/>
              <a:t>&amp; Micro-Text Limitations</a:t>
            </a:r>
          </a:p>
          <a:p>
            <a:r>
              <a:rPr lang="nn-NO" sz="2000" b="1" dirty="0"/>
              <a:t>Presenters:</a:t>
            </a:r>
            <a:r>
              <a:rPr lang="nn-NO" sz="2000" dirty="0"/>
              <a:t> Sai Karthik Varma Indukuri, </a:t>
            </a:r>
            <a:br>
              <a:rPr lang="nn-NO" sz="2000" dirty="0"/>
            </a:br>
            <a:r>
              <a:rPr lang="nn-NO" sz="2000" dirty="0"/>
              <a:t>Srivatsa Vuppalanchi, Gandhar Sidhaye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0654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D520-99A7-F530-5003-54C161AB8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10515600" cy="868680"/>
          </a:xfrm>
        </p:spPr>
        <p:txBody>
          <a:bodyPr/>
          <a:lstStyle/>
          <a:p>
            <a:r>
              <a:rPr lang="en-IN" dirty="0"/>
              <a:t>Problem Statement &amp; Motivation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56B42-50E2-09A6-7D77-88C858FFA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1564" y="2481943"/>
            <a:ext cx="6270493" cy="3811588"/>
          </a:xfrm>
        </p:spPr>
        <p:txBody>
          <a:bodyPr/>
          <a:lstStyle/>
          <a:p>
            <a:r>
              <a:rPr lang="en-US" b="1" dirty="0"/>
              <a:t>Problem:</a:t>
            </a:r>
            <a:r>
              <a:rPr lang="en-US" dirty="0"/>
              <a:t> LLMs are great at semantic meaning but ignore structural/psychological markers of deception (readability, hyperbole).</a:t>
            </a:r>
          </a:p>
          <a:p>
            <a:endParaRPr lang="en-US" dirty="0"/>
          </a:p>
          <a:p>
            <a:r>
              <a:rPr lang="en-US" b="1" dirty="0"/>
              <a:t>Our Hypothesis:</a:t>
            </a:r>
            <a:r>
              <a:rPr lang="en-US" dirty="0"/>
              <a:t> Fusing explicit linguistic features with dense contextual embeddings will create a more robust classifier.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65655D-4AFB-3BA0-17F3-A2B3F3DC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5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CB113-A4AE-E619-9E3A-598667619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99A9-D5C8-8A03-AA31-8725F815F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40A54-0CD6-87C6-BA80-0809450E0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1565" y="2481943"/>
            <a:ext cx="5470220" cy="3033333"/>
          </a:xfrm>
        </p:spPr>
        <p:txBody>
          <a:bodyPr/>
          <a:lstStyle/>
          <a:p>
            <a:pPr fontAlgn="base"/>
            <a:r>
              <a:rPr lang="en-IN" b="1" dirty="0"/>
              <a:t>LIAR (Micro-Text)</a:t>
            </a:r>
            <a:r>
              <a:rPr lang="en-US" dirty="0"/>
              <a:t>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b="1" dirty="0"/>
              <a:t>Focus</a:t>
            </a:r>
            <a:r>
              <a:rPr lang="en-US" sz="1800" dirty="0"/>
              <a:t>: 12.8k Short political statements from PolitiFact. 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b="1" dirty="0"/>
              <a:t>Median Length</a:t>
            </a:r>
            <a:r>
              <a:rPr lang="en-US" sz="1800" dirty="0"/>
              <a:t>: ~15 words. 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b="1" dirty="0"/>
              <a:t>Example</a:t>
            </a:r>
            <a:r>
              <a:rPr lang="en-US" sz="1800" dirty="0"/>
              <a:t>: “The health care law is a job-killer." (Label: False)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2FB22-671A-F6B2-51BE-3A5B5D29B9CE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506932" y="2481943"/>
            <a:ext cx="4245750" cy="3811588"/>
          </a:xfrm>
        </p:spPr>
        <p:txBody>
          <a:bodyPr/>
          <a:lstStyle/>
          <a:p>
            <a:r>
              <a:rPr lang="en-IN" b="1" dirty="0" err="1"/>
              <a:t>FakeNewsNet</a:t>
            </a:r>
            <a:r>
              <a:rPr lang="en-IN" b="1" dirty="0"/>
              <a:t> (Macro-Text):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Focus:</a:t>
            </a:r>
            <a:r>
              <a:rPr lang="en-IN" dirty="0"/>
              <a:t> 23k full-length web articles (</a:t>
            </a:r>
            <a:r>
              <a:rPr lang="en-IN" dirty="0" err="1"/>
              <a:t>GossipCop</a:t>
            </a:r>
            <a:r>
              <a:rPr lang="en-IN" dirty="0"/>
              <a:t> &amp; </a:t>
            </a:r>
            <a:r>
              <a:rPr lang="en-IN" dirty="0" err="1"/>
              <a:t>Politifact</a:t>
            </a:r>
            <a:r>
              <a:rPr lang="en-IN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Median Length:</a:t>
            </a:r>
            <a:r>
              <a:rPr lang="en-IN" dirty="0"/>
              <a:t> 450+ words.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Example:</a:t>
            </a:r>
            <a:r>
              <a:rPr lang="en-IN" dirty="0"/>
              <a:t> A 1200+ word detailed investigative report on celebrity financial scandals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BDBCF-2357-6B22-E352-9489CE7B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380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C2C5-5AD3-5C88-6C26-3379804E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504950"/>
            <a:ext cx="8648700" cy="868363"/>
          </a:xfrm>
        </p:spPr>
        <p:txBody>
          <a:bodyPr/>
          <a:lstStyle/>
          <a:p>
            <a:r>
              <a:rPr lang="en-IN" dirty="0"/>
              <a:t>The Datasets: Micro-Text vs. Macro-Text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984D7-6E5E-AECF-52DA-056035904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1564" y="2481943"/>
            <a:ext cx="5192807" cy="3811588"/>
          </a:xfrm>
        </p:spPr>
        <p:txBody>
          <a:bodyPr/>
          <a:lstStyle/>
          <a:p>
            <a:r>
              <a:rPr lang="en-US" b="1" dirty="0"/>
              <a:t>LIAR vs </a:t>
            </a:r>
            <a:r>
              <a:rPr lang="en-US" b="1" dirty="0" err="1"/>
              <a:t>FakeNewsNet</a:t>
            </a:r>
            <a:r>
              <a:rPr lang="en-US" b="1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Zero overlap </a:t>
            </a:r>
            <a:r>
              <a:rPr lang="en-US" dirty="0"/>
              <a:t>between the word counts in both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/>
              <a:t>This massive gap is a Domain Shift.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/>
              <a:t>A model that has only ever learned to classify 15-word political quotes will fail when suddenly forced to read 500-word news articles.</a:t>
            </a:r>
            <a:endParaRPr lang="en-US" dirty="0"/>
          </a:p>
        </p:txBody>
      </p:sp>
      <p:graphicFrame>
        <p:nvGraphicFramePr>
          <p:cNvPr id="6" name="Chart Placeholder 5" descr="this is a placeholder chart">
            <a:extLst>
              <a:ext uri="{FF2B5EF4-FFF2-40B4-BE49-F238E27FC236}">
                <a16:creationId xmlns:a16="http://schemas.microsoft.com/office/drawing/2014/main" id="{E340BCDB-4CBE-4404-580A-E7FD7EA69593}"/>
              </a:ext>
            </a:extLst>
          </p:cNvPr>
          <p:cNvGraphicFramePr>
            <a:graphicFrameLocks noGrp="1"/>
          </p:cNvGraphicFramePr>
          <p:nvPr>
            <p:ph type="chart" sz="quarter" idx="10"/>
            <p:extLst>
              <p:ext uri="{D42A27DB-BD31-4B8C-83A1-F6EECF244321}">
                <p14:modId xmlns:p14="http://schemas.microsoft.com/office/powerpoint/2010/main" val="3904794080"/>
              </p:ext>
            </p:extLst>
          </p:nvPr>
        </p:nvGraphicFramePr>
        <p:xfrm>
          <a:off x="10849304" y="3770921"/>
          <a:ext cx="644196" cy="1099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32" name="Picture 8">
            <a:extLst>
              <a:ext uri="{FF2B5EF4-FFF2-40B4-BE49-F238E27FC236}">
                <a16:creationId xmlns:a16="http://schemas.microsoft.com/office/drawing/2014/main" id="{5C7687CC-1511-BE74-C8CA-66A7634A1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848" y="2373313"/>
            <a:ext cx="6190452" cy="362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539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DBC93-E4F7-56E2-8088-7F5B1D3E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8923047" cy="868680"/>
          </a:xfrm>
        </p:spPr>
        <p:txBody>
          <a:bodyPr/>
          <a:lstStyle/>
          <a:p>
            <a:r>
              <a:rPr lang="en-US" dirty="0"/>
              <a:t>Architecture - Gated Dual-Stream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71476-3A7A-72AF-C0F2-89000D3D1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1564" y="2481943"/>
            <a:ext cx="7270145" cy="38115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Contextual Stream</a:t>
            </a:r>
            <a:r>
              <a:rPr lang="en-US" sz="1800" dirty="0"/>
              <a:t>: Dense semantic embeddings captured via pre-trained Transformer (</a:t>
            </a:r>
            <a:r>
              <a:rPr lang="en-US" sz="1800" dirty="0" err="1"/>
              <a:t>DeBERTa</a:t>
            </a:r>
            <a:r>
              <a:rPr lang="en-US" sz="1800" dirty="0"/>
              <a:t>/</a:t>
            </a:r>
            <a:r>
              <a:rPr lang="en-US" sz="1800" dirty="0" err="1"/>
              <a:t>RoBERTa</a:t>
            </a:r>
            <a:r>
              <a:rPr lang="en-US" sz="1800" dirty="0"/>
              <a:t>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Linguistic Stream</a:t>
            </a:r>
            <a:r>
              <a:rPr lang="en-US" sz="1800" dirty="0"/>
              <a:t>: Explicit psychological &amp; structural markers (Polarity, Readability, Lexical Diversity).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The Fusion Problem</a:t>
            </a:r>
            <a:r>
              <a:rPr lang="en-US" sz="1800" dirty="0"/>
              <a:t>: Linguistic features act as statistical noise on micro-texts (short quotes).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A Sigmoid Gate that dynamically regulates the linguistic stream, "closing" for short quotes and "opening" for full-length articles.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4A29EDD-F8D5-823A-ABA7-BC3717766F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-38" b="281"/>
          <a:stretch>
            <a:fillRect/>
          </a:stretch>
        </p:blipFill>
        <p:spPr>
          <a:xfrm>
            <a:off x="9394489" y="1275143"/>
            <a:ext cx="2412928" cy="5369668"/>
          </a:xfrm>
        </p:spPr>
      </p:pic>
    </p:spTree>
    <p:extLst>
      <p:ext uri="{BB962C8B-B14F-4D97-AF65-F5344CB8AC3E}">
        <p14:creationId xmlns:p14="http://schemas.microsoft.com/office/powerpoint/2010/main" val="3214654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EC3E-07B1-A957-7A3B-25046AD4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97C6C-CF58-4600-3611-9A5D143B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9423560" cy="868680"/>
          </a:xfrm>
        </p:spPr>
        <p:txBody>
          <a:bodyPr/>
          <a:lstStyle/>
          <a:p>
            <a:r>
              <a:rPr lang="en-US" dirty="0"/>
              <a:t>Exp. 1 - Ablation Study &amp; Micro-Text Penalty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95896-6D7C-775E-0B5C-F7511209B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1564" y="2481943"/>
            <a:ext cx="7270145" cy="3811588"/>
          </a:xfrm>
        </p:spPr>
        <p:txBody>
          <a:bodyPr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Objective</a:t>
            </a:r>
            <a:r>
              <a:rPr lang="en-US" dirty="0"/>
              <a:t>: Compare pure semantic attention (</a:t>
            </a:r>
            <a:r>
              <a:rPr lang="en-US" dirty="0" err="1"/>
              <a:t>RoBERTa</a:t>
            </a:r>
            <a:r>
              <a:rPr lang="en-US" dirty="0"/>
              <a:t>-only) vs. our Dual-Stream architecture on the LIAR dataset.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b="1" dirty="0"/>
              <a:t>Result</a:t>
            </a:r>
            <a:r>
              <a:rPr lang="en-US" dirty="0"/>
              <a:t>: Baseline outperformed Dual-Stream by ~4%.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b="1" dirty="0"/>
              <a:t>Micro-Text Penalty</a:t>
            </a:r>
            <a:r>
              <a:rPr lang="en-US" dirty="0"/>
              <a:t>: Handcrafted features (Readability, Lexical Diversity) measure document-level structure.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900" dirty="0"/>
              <a:t>When applied to 15-word quotes, these features act as statistical noise.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900" dirty="0"/>
              <a:t>Explicit features actively hurt performance on micro-texts.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8109616-2E77-A9C5-C352-2CDC48BA3F6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-38" b="281"/>
          <a:stretch>
            <a:fillRect/>
          </a:stretch>
        </p:blipFill>
        <p:spPr>
          <a:xfrm>
            <a:off x="10481912" y="2452715"/>
            <a:ext cx="1315879" cy="2928324"/>
          </a:xfrm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4ECC034-9278-B78C-84FB-C101BF839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742" y="2452715"/>
            <a:ext cx="4605546" cy="341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28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0C0A-465E-CA5F-DFC1-9966A787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6AD2-8D7E-7AB6-223C-6299F3B0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9423560" cy="868680"/>
          </a:xfrm>
        </p:spPr>
        <p:txBody>
          <a:bodyPr/>
          <a:lstStyle/>
          <a:p>
            <a:r>
              <a:rPr lang="en-IN" dirty="0"/>
              <a:t>Exp. 2 - Cross-Domain Robustness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56F54-103F-6A99-A537-0F4F310F9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1565" y="2481943"/>
            <a:ext cx="6728389" cy="3811588"/>
          </a:xfrm>
        </p:spPr>
        <p:txBody>
          <a:bodyPr/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b="1" dirty="0"/>
              <a:t>Objective</a:t>
            </a:r>
            <a:r>
              <a:rPr lang="en-US" dirty="0"/>
              <a:t>: Zero-Shot transfer - Train on LIAR politics and Test on </a:t>
            </a:r>
            <a:r>
              <a:rPr lang="en-US" dirty="0" err="1"/>
              <a:t>FakeNewsNet</a:t>
            </a:r>
            <a:r>
              <a:rPr lang="en-US" dirty="0"/>
              <a:t> web articles.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b="1" dirty="0"/>
              <a:t>Catastrophe</a:t>
            </a:r>
            <a:r>
              <a:rPr lang="en-US" dirty="0"/>
              <a:t>: Baseline accuracy collapsed to 26.14% showcasing Extreme Domain Shift.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b="1" dirty="0"/>
              <a:t>Recovery</a:t>
            </a:r>
            <a:r>
              <a:rPr lang="en-US" dirty="0"/>
              <a:t>: Dual-Stream retained 7.3% more accuracy than the baseline.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b="1" dirty="0"/>
              <a:t>Inference</a:t>
            </a:r>
            <a:r>
              <a:rPr lang="en-US" dirty="0"/>
              <a:t>: While linguistic features hurt micro-texts, they act as crucial, domain-agnostic structural anchors when the semantic vocabulary completely changes.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BE44F09-E184-B245-D866-4E049C65C2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-38" b="281"/>
          <a:stretch>
            <a:fillRect/>
          </a:stretch>
        </p:blipFill>
        <p:spPr>
          <a:xfrm>
            <a:off x="10481912" y="2452715"/>
            <a:ext cx="1315879" cy="2928324"/>
          </a:xfr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31A7A719-6430-C370-E6BF-030291192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880" y="2373306"/>
            <a:ext cx="4839069" cy="359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84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2B03C-A98A-7D7D-F93B-9C712F9A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F8720-1CF2-CCEA-CDF7-4916A81E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9423560" cy="868680"/>
          </a:xfrm>
        </p:spPr>
        <p:txBody>
          <a:bodyPr/>
          <a:lstStyle/>
          <a:p>
            <a:r>
              <a:rPr lang="en-US" dirty="0"/>
              <a:t>Exp. 3 - Final Gated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D2F7B-5EA9-984F-0C91-1E3A9FCC8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1565" y="2481943"/>
            <a:ext cx="7125766" cy="3811588"/>
          </a:xfrm>
        </p:spPr>
        <p:txBody>
          <a:bodyPr/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b="1" dirty="0"/>
              <a:t>Setup</a:t>
            </a:r>
            <a:r>
              <a:rPr lang="en-US" dirty="0"/>
              <a:t>: Trained the upgraded Gated Dual-Stream (DeBERTa-v3) directly on </a:t>
            </a:r>
            <a:r>
              <a:rPr lang="en-US" dirty="0" err="1"/>
              <a:t>FakeNewsNet</a:t>
            </a:r>
            <a:r>
              <a:rPr lang="en-US" dirty="0"/>
              <a:t>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b="1" dirty="0"/>
              <a:t>Results</a:t>
            </a:r>
            <a:r>
              <a:rPr lang="en-US" dirty="0"/>
              <a:t>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dirty="0"/>
              <a:t>Accuracy: 87.4%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dirty="0"/>
              <a:t>Recall for Fake News: Jumped from 0% to 70% after class-weighting.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dirty="0"/>
              <a:t>Conclusion: Gated feature fusion successfully handles macro-texts with high accuracy.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500" dirty="0"/>
              <a:t>Implemented </a:t>
            </a:r>
            <a:r>
              <a:rPr lang="en-US" sz="1500" dirty="0" err="1"/>
              <a:t>NaN</a:t>
            </a:r>
            <a:r>
              <a:rPr lang="en-US" sz="1500" dirty="0"/>
              <a:t>-safeguards to prevent gradient explosions, applied Class Weights [0.66, 2.01] to handle the 75/25 dataset imbalance.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EA6B141-8AC2-91B0-4C5F-D5AAFE05C36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-38" b="281"/>
          <a:stretch>
            <a:fillRect/>
          </a:stretch>
        </p:blipFill>
        <p:spPr>
          <a:xfrm>
            <a:off x="10135402" y="1580173"/>
            <a:ext cx="1315879" cy="2928324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05ACE54-2012-DA0B-8C13-05B05BDBD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331" y="1244779"/>
            <a:ext cx="4108891" cy="3088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5E10092-7731-653D-3C28-77A059FEE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409" y="4333418"/>
            <a:ext cx="2664733" cy="226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737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E9245-CA2B-B6CB-3806-BF9AF710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DD23-646D-7763-22A2-29379B7AA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9423560" cy="868680"/>
          </a:xfrm>
        </p:spPr>
        <p:txBody>
          <a:bodyPr/>
          <a:lstStyle/>
          <a:p>
            <a:r>
              <a:rPr lang="en-IN" dirty="0"/>
              <a:t>Final Model Generalization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F956A-9E9B-7A1F-783D-4069E1D90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1564" y="2431143"/>
            <a:ext cx="10245955" cy="3811588"/>
          </a:xfrm>
        </p:spPr>
        <p:txBody>
          <a:bodyPr/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800" b="1" dirty="0"/>
              <a:t>Model</a:t>
            </a:r>
            <a:r>
              <a:rPr lang="en-US" sz="1800" dirty="0"/>
              <a:t>: Gated Dual-Stream (DeBERTa-v3 + Linguistic Features)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800" b="1" dirty="0"/>
              <a:t>Training Set</a:t>
            </a:r>
            <a:r>
              <a:rPr lang="en-US" sz="1800" dirty="0"/>
              <a:t>: </a:t>
            </a:r>
            <a:r>
              <a:rPr lang="en-US" sz="1800" dirty="0" err="1"/>
              <a:t>FakeNewsNet</a:t>
            </a:r>
            <a:r>
              <a:rPr lang="en-US" sz="1800" dirty="0"/>
              <a:t> (Macro-Text)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800" b="1" dirty="0"/>
              <a:t>Test Results</a:t>
            </a:r>
            <a:r>
              <a:rPr lang="en-US" sz="1800" dirty="0"/>
              <a:t>: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1600" dirty="0" err="1"/>
              <a:t>FakeNewsNet</a:t>
            </a:r>
            <a:r>
              <a:rPr lang="en-US" sz="1600" dirty="0"/>
              <a:t> (In-Domain): 87.44% Accuracy (Recall for Fake: 70%)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1600" dirty="0"/>
              <a:t>LIAR (Cross-Domain): 56.43% Accuracy (Recall for Fake: 21%)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800" b="1" dirty="0"/>
              <a:t>Key Insight</a:t>
            </a:r>
            <a:r>
              <a:rPr lang="en-US" sz="1800" dirty="0"/>
              <a:t>: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1600" dirty="0"/>
              <a:t>Training on long-form articles provides a much more robust "Structural Anchor."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1600" dirty="0"/>
              <a:t>The model achieved 56% on LIAR (better than the 33% we saw when doing the reverse experiment earlier).</a:t>
            </a:r>
          </a:p>
        </p:txBody>
      </p:sp>
    </p:spTree>
    <p:extLst>
      <p:ext uri="{BB962C8B-B14F-4D97-AF65-F5344CB8AC3E}">
        <p14:creationId xmlns:p14="http://schemas.microsoft.com/office/powerpoint/2010/main" val="1408868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4FCC-0592-02FA-EE74-D188B191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Work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7D646-D44D-E20D-550A-FDC382EDC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1565" y="2481943"/>
            <a:ext cx="5470220" cy="3033333"/>
          </a:xfrm>
        </p:spPr>
        <p:txBody>
          <a:bodyPr/>
          <a:lstStyle/>
          <a:p>
            <a:pPr fontAlgn="base"/>
            <a:r>
              <a:rPr lang="en-US" b="1" dirty="0"/>
              <a:t>Key Takeaways</a:t>
            </a:r>
            <a:r>
              <a:rPr lang="en-US" dirty="0"/>
              <a:t>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dirty="0"/>
              <a:t>Feature fusion is a trade-off: highly effective for macro-texts, detrimental to micro-texts.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dirty="0"/>
              <a:t>Dynamic Gating successfully bridges this gap.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dirty="0"/>
              <a:t>Explicit features provide vital robustness against Out-of-Distribution (OOD) data.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A244D-141C-3D41-8006-886057BA0BC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506932" y="2481943"/>
            <a:ext cx="4245750" cy="3811588"/>
          </a:xfrm>
        </p:spPr>
        <p:txBody>
          <a:bodyPr/>
          <a:lstStyle/>
          <a:p>
            <a:pPr fontAlgn="base"/>
            <a:r>
              <a:rPr lang="en-US" b="1" dirty="0"/>
              <a:t>Future Work</a:t>
            </a:r>
            <a:r>
              <a:rPr lang="en-US" dirty="0"/>
              <a:t>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dirty="0"/>
              <a:t>Scale the backbone to larger models (e.g., Llama-3).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dirty="0"/>
              <a:t>Incorporate multi-modal streams (analyzing article images alongside text).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43C4D7-AE49-DFD7-3545-98E83781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810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555A1-F948-E835-9070-C93A4AC90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5B7C-BA5B-E3CF-8741-88A89DE2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10515600" cy="868680"/>
          </a:xfrm>
        </p:spPr>
        <p:txBody>
          <a:bodyPr/>
          <a:lstStyle/>
          <a:p>
            <a:r>
              <a:rPr lang="en-IN" dirty="0"/>
              <a:t>References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D5089-6EE2-0F0E-E071-3CB31F3AF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1564" y="2481942"/>
            <a:ext cx="10995122" cy="394773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Yang, Y., Liu, J., Yang, Y., &amp; Cen, L. (2024). Dual-stream fusion network with multi-head self-attention for multi-modal fake news detection. Applied Soft Computing, 167(B), 112358.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He, P., Gao, J., &amp; Chen, W. (2021). </a:t>
            </a:r>
            <a:r>
              <a:rPr lang="en-IN" sz="1900" dirty="0" err="1"/>
              <a:t>DeBERTa</a:t>
            </a:r>
            <a:r>
              <a:rPr lang="en-IN" sz="1900" dirty="0"/>
              <a:t>: Decoding-enhanced BERT with Disentangled Attention. International Conference on Learning Representations (ICLR).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Shu, K., </a:t>
            </a:r>
            <a:r>
              <a:rPr lang="en-IN" sz="1900" dirty="0" err="1"/>
              <a:t>Mahudeswaran</a:t>
            </a:r>
            <a:r>
              <a:rPr lang="en-IN" sz="1900" dirty="0"/>
              <a:t>, D., Wang, S., Lee, D., &amp; Liu, H. (2020). </a:t>
            </a:r>
            <a:r>
              <a:rPr lang="en-IN" sz="1900" dirty="0" err="1"/>
              <a:t>FakeNewsNet</a:t>
            </a:r>
            <a:r>
              <a:rPr lang="en-IN" sz="1900" dirty="0"/>
              <a:t>: A Data Repository with News Content, Social Context, and Spatiotemporal Information. Big Data, 8(3), 171-188.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Wang, W. Y. (2017). "Liar, Liar Pants on Fire": A New Benchmark Dataset for Fake News Detection. Proceedings of the 55th Annual Meeting of the Association for Computational Linguistics (ACL).</a:t>
            </a:r>
            <a:endParaRPr lang="en-US" sz="19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7C8E07-D356-8129-3218-8E182C0F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135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5BFC-3DC5-D224-0479-53AB12C0B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35" y="2695074"/>
            <a:ext cx="11390930" cy="3840480"/>
          </a:xfrm>
        </p:spPr>
        <p:txBody>
          <a:bodyPr/>
          <a:lstStyle/>
          <a:p>
            <a:r>
              <a:rPr lang="en-US" sz="6000" dirty="0"/>
              <a:t>Thank You</a:t>
            </a:r>
            <a:br>
              <a:rPr lang="en-IN" sz="2000" dirty="0"/>
            </a:br>
            <a:r>
              <a:rPr lang="en-IN" sz="2000" dirty="0"/>
              <a:t>Project Repository: https://github.com/karthik-vi/DualStream-Fusion-FakeNews</a:t>
            </a:r>
            <a:br>
              <a:rPr lang="en-IN" sz="2000" dirty="0"/>
            </a:br>
            <a:r>
              <a:rPr lang="en-IN" sz="2000" dirty="0"/>
              <a:t>Sai Karthik Varma Indukuri, Srivatsa </a:t>
            </a:r>
            <a:r>
              <a:rPr lang="en-IN" sz="2000" dirty="0" err="1"/>
              <a:t>Vuppalanchi</a:t>
            </a:r>
            <a:r>
              <a:rPr lang="en-IN" sz="2000" dirty="0"/>
              <a:t>, Gandhar Sidhaye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8606504"/>
      </p:ext>
    </p:extLst>
  </p:cSld>
  <p:clrMapOvr>
    <a:masterClrMapping/>
  </p:clrMapOvr>
</p:sld>
</file>

<file path=ppt/theme/theme1.xml><?xml version="1.0" encoding="utf-8"?>
<a:theme xmlns:a="http://schemas.openxmlformats.org/drawingml/2006/main" name="UB Unit Presentation Template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1279</TotalTime>
  <Words>843</Words>
  <Application>Microsoft Office PowerPoint</Application>
  <PresentationFormat>Widescreen</PresentationFormat>
  <Paragraphs>73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Georgia</vt:lpstr>
      <vt:lpstr>System Font Regular</vt:lpstr>
      <vt:lpstr>UB Unit Presentation Template</vt:lpstr>
      <vt:lpstr>Dual-Stream Feature  Fusion for Fake News Detection</vt:lpstr>
      <vt:lpstr>Problem Statement &amp; Motivation</vt:lpstr>
      <vt:lpstr>Datasets</vt:lpstr>
      <vt:lpstr>The Datasets: Micro-Text vs. Macro-Text</vt:lpstr>
      <vt:lpstr>Architecture - Gated Dual-Stream Network</vt:lpstr>
      <vt:lpstr>Exp. 1 - Ablation Study &amp; Micro-Text Penalty</vt:lpstr>
      <vt:lpstr>Exp. 2 - Cross-Domain Robustness</vt:lpstr>
      <vt:lpstr>Exp. 3 - Final Gated Architecture</vt:lpstr>
      <vt:lpstr>Final Model Generalization</vt:lpstr>
      <vt:lpstr>Conclusion &amp; Future Work</vt:lpstr>
      <vt:lpstr>References</vt:lpstr>
      <vt:lpstr>Thank You Project Repository: https://github.com/karthik-vi/DualStream-Fusion-FakeNews Sai Karthik Varma Indukuri, Srivatsa Vuppalanchi, Gandhar Sidhaye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Unit Presentation Template</dc:title>
  <dc:subject/>
  <dc:creator>University at Buffalo</dc:creator>
  <cp:keywords/>
  <dc:description/>
  <cp:lastModifiedBy>Karthik Varma</cp:lastModifiedBy>
  <cp:revision>75</cp:revision>
  <dcterms:created xsi:type="dcterms:W3CDTF">2026-02-26T21:32:20Z</dcterms:created>
  <dcterms:modified xsi:type="dcterms:W3CDTF">2026-05-04T15:28:52Z</dcterms:modified>
  <cp:category/>
</cp:coreProperties>
</file>